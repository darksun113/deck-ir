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952858" r:id="rId2"/>
    <p:sldId id="12544363" r:id="rId3"/>
    <p:sldId id="12544367" r:id="rId4"/>
  </p:sldIdLst>
  <p:sldSz cx="12192000" cy="6858000"/>
  <p:notesSz cx="6797675" cy="9926638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ell" initials="D" lastIdx="0" clrIdx="0"/>
  <p:cmAuthor id="1" name="Xinkun Li" initials="XL" lastIdx="5" clrIdx="0"/>
  <p:cmAuthor id="8" name="tianli" initials="L" lastIdx="1" clrIdx="7"/>
  <p:cmAuthor id="2" name="office365" initials="o" lastIdx="1" clrIdx="1"/>
  <p:cmAuthor id="3" name="作者" initials="A" lastIdx="0" clrIdx="2"/>
  <p:cmAuthor id="4" name="czy" initials="" lastIdx="1" clrIdx="1"/>
  <p:cmAuthor id="5" name="未知用户1" initials="未知用户1" lastIdx="0" clrIdx="2"/>
  <p:cmAuthor id="6" name="song bin" initials="sb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BAC"/>
    <a:srgbClr val="595959"/>
    <a:srgbClr val="D2DEEF"/>
    <a:srgbClr val="6D6D6D"/>
    <a:srgbClr val="DAE3F3"/>
    <a:srgbClr val="EAEFF7"/>
    <a:srgbClr val="2E75B6"/>
    <a:srgbClr val="E6E6E6"/>
    <a:srgbClr val="BBBBBB"/>
    <a:srgbClr val="E6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2" autoAdjust="0"/>
    <p:restoredTop sz="96027" autoAdjust="0"/>
  </p:normalViewPr>
  <p:slideViewPr>
    <p:cSldViewPr showGuides="1">
      <p:cViewPr varScale="1">
        <p:scale>
          <a:sx n="122" d="100"/>
          <a:sy n="122" d="100"/>
        </p:scale>
        <p:origin x="888" y="192"/>
      </p:cViewPr>
      <p:guideLst>
        <p:guide orient="horz" pos="228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2949" y="41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32222-8F32-4832-880D-0F7F5916EBB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17EE2-2061-49B4-9869-1C5C65125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22275" y="1241425"/>
            <a:ext cx="5953125" cy="3349625"/>
          </a:xfrm>
          <a:ln>
            <a:miter lim="800000"/>
          </a:ln>
        </p:spPr>
      </p:sp>
      <p:sp>
        <p:nvSpPr>
          <p:cNvPr id="512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512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3EE272-C7B2-431D-AD19-49C3FBF5286E}" type="slidenum">
              <a:rPr kumimoji="0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微软雅黑" panose="020B0503020204020204" pitchFamily="34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17EE2-2061-49B4-9869-1C5C651250A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F3BF-BC62-EE16-CF69-FC59B8C0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9EF8D1-97BD-9F24-7C59-E4A47195F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91DE5A-A6B3-3F7E-DC2C-DCAFB9FE4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17909-E30C-C24C-AED2-3B8721692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17EE2-2061-49B4-9869-1C5C651250A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87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5240" y="0"/>
            <a:ext cx="12207240" cy="4929283"/>
          </a:xfrm>
          <a:prstGeom prst="rect">
            <a:avLst/>
          </a:prstGeom>
          <a:gradFill flip="none" rotWithShape="1">
            <a:gsLst>
              <a:gs pos="0">
                <a:srgbClr val="005BAC"/>
              </a:gs>
              <a:gs pos="100000">
                <a:srgbClr val="005BAC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>
              <a:solidFill>
                <a:srgbClr val="43709A"/>
              </a:solidFill>
              <a:cs typeface="+mn-ea"/>
              <a:sym typeface="+mn-lt"/>
            </a:endParaRPr>
          </a:p>
        </p:txBody>
      </p:sp>
      <p:pic>
        <p:nvPicPr>
          <p:cNvPr id="5" name="图片 4" descr="A基础部分2_画板 1"/>
          <p:cNvPicPr>
            <a:picLocks noChangeAspect="1"/>
          </p:cNvPicPr>
          <p:nvPr/>
        </p:nvPicPr>
        <p:blipFill rotWithShape="1">
          <a:blip r:embed="rId2"/>
          <a:srcRect l="394" t="20519" b="26565"/>
          <a:stretch>
            <a:fillRect/>
          </a:stretch>
        </p:blipFill>
        <p:spPr>
          <a:xfrm>
            <a:off x="0" y="-6214"/>
            <a:ext cx="12192000" cy="4731209"/>
          </a:xfrm>
          <a:prstGeom prst="rect">
            <a:avLst/>
          </a:prstGeom>
        </p:spPr>
      </p:pic>
      <p:pic>
        <p:nvPicPr>
          <p:cNvPr id="6" name="图片 5" descr="图片包含 矩形&#10;&#10;描述已自动生成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56" b="2811"/>
          <a:stretch>
            <a:fillRect/>
          </a:stretch>
        </p:blipFill>
        <p:spPr>
          <a:xfrm>
            <a:off x="0" y="4915600"/>
            <a:ext cx="12192000" cy="504000"/>
          </a:xfrm>
          <a:prstGeom prst="rect">
            <a:avLst/>
          </a:prstGeom>
        </p:spPr>
      </p:pic>
      <p:sp>
        <p:nvSpPr>
          <p:cNvPr id="8" name="文本框 8"/>
          <p:cNvSpPr txBox="1">
            <a:spLocks noChangeArrowheads="1"/>
          </p:cNvSpPr>
          <p:nvPr/>
        </p:nvSpPr>
        <p:spPr bwMode="auto">
          <a:xfrm>
            <a:off x="336000" y="5910616"/>
            <a:ext cx="2165978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1200" b="1" dirty="0"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" panose="020B0503020204020204" pitchFamily="34" charset="-122"/>
              </a:rPr>
              <a:t>让城市更智慧 </a:t>
            </a:r>
            <a:r>
              <a:rPr lang="en-US" altLang="zh-CN" sz="1200" b="1" dirty="0"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 b="1" dirty="0"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" panose="020B0503020204020204" pitchFamily="34" charset="-122"/>
              </a:rPr>
              <a:t>让生活更美好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8000" y="6162775"/>
            <a:ext cx="145424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defRPr/>
            </a:pPr>
            <a:r>
              <a:rPr lang="en-US" altLang="zh-CN" sz="800" b="1" kern="1200" noProof="1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+mn-lt"/>
              </a:rPr>
              <a:t>Smarter City    Better Life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000" y="5949000"/>
            <a:ext cx="1543347" cy="430659"/>
          </a:xfrm>
          <a:prstGeom prst="rect">
            <a:avLst/>
          </a:prstGeom>
        </p:spPr>
      </p:pic>
      <p:pic>
        <p:nvPicPr>
          <p:cNvPr id="2" name="图片 1"/>
          <p:cNvPicPr>
            <a:picLocks noGrp="1" noChangeAspect="1"/>
          </p:cNvPicPr>
          <p:nvPr isPhoto="1"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5080"/>
            <a:ext cx="12192000" cy="6857206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426825" y="549000"/>
            <a:ext cx="0" cy="287545"/>
          </a:xfrm>
          <a:prstGeom prst="line">
            <a:avLst/>
          </a:prstGeom>
          <a:ln w="28575">
            <a:solidFill>
              <a:srgbClr val="005BAC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537607" y="549000"/>
            <a:ext cx="0" cy="288814"/>
          </a:xfrm>
          <a:prstGeom prst="line">
            <a:avLst/>
          </a:prstGeom>
          <a:ln w="152400">
            <a:solidFill>
              <a:srgbClr val="005BAC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000" y="451525"/>
            <a:ext cx="2160000" cy="482494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4411271"/>
            <a:ext cx="12192000" cy="564283"/>
          </a:xfrm>
          <a:prstGeom prst="rect">
            <a:avLst/>
          </a:prstGeom>
          <a:gradFill flip="none" rotWithShape="1">
            <a:gsLst>
              <a:gs pos="0">
                <a:srgbClr val="005BAC"/>
              </a:gs>
              <a:gs pos="100000">
                <a:srgbClr val="005BAC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3709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 descr="A基础部分2_画板 1"/>
          <p:cNvPicPr>
            <a:picLocks noChangeAspect="1"/>
          </p:cNvPicPr>
          <p:nvPr/>
        </p:nvPicPr>
        <p:blipFill rotWithShape="1">
          <a:blip r:embed="rId4"/>
          <a:srcRect t="20519" b="26565"/>
          <a:stretch>
            <a:fillRect/>
          </a:stretch>
        </p:blipFill>
        <p:spPr>
          <a:xfrm>
            <a:off x="0" y="-96738"/>
            <a:ext cx="12192000" cy="4572237"/>
          </a:xfrm>
          <a:prstGeom prst="rect">
            <a:avLst/>
          </a:prstGeom>
        </p:spPr>
      </p:pic>
      <p:sp>
        <p:nvSpPr>
          <p:cNvPr id="4101" name="文本框 11"/>
          <p:cNvSpPr txBox="1">
            <a:spLocks noChangeArrowheads="1"/>
          </p:cNvSpPr>
          <p:nvPr/>
        </p:nvSpPr>
        <p:spPr bwMode="auto">
          <a:xfrm>
            <a:off x="8947152" y="6210300"/>
            <a:ext cx="25828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NovaCity 智慧科技集团</a:t>
            </a:r>
          </a:p>
        </p:txBody>
      </p:sp>
      <p:pic>
        <p:nvPicPr>
          <p:cNvPr id="7" name="图片 6" descr="图片包含 矩形&#10;&#10;描述已自动生成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69"/>
          <a:stretch>
            <a:fillRect/>
          </a:stretch>
        </p:blipFill>
        <p:spPr>
          <a:xfrm>
            <a:off x="0" y="4753052"/>
            <a:ext cx="12216000" cy="978149"/>
          </a:xfrm>
          <a:prstGeom prst="rect">
            <a:avLst/>
          </a:prstGeom>
        </p:spPr>
      </p:pic>
      <p:sp>
        <p:nvSpPr>
          <p:cNvPr id="11" name="文本框 8"/>
          <p:cNvSpPr txBox="1">
            <a:spLocks noChangeArrowheads="1"/>
          </p:cNvSpPr>
          <p:nvPr/>
        </p:nvSpPr>
        <p:spPr bwMode="auto">
          <a:xfrm>
            <a:off x="327534" y="5910616"/>
            <a:ext cx="2165978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微软雅黑" panose="020B0503020204020204" pitchFamily="34" charset="-122"/>
              </a:rPr>
              <a:t>让城市更智慧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微软雅黑" panose="020B0503020204020204" pitchFamily="34" charset="-122"/>
              </a:rPr>
              <a:t> 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微软雅黑" panose="020B0503020204020204" pitchFamily="34" charset="-122"/>
              </a:rPr>
              <a:t>让生活更美好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38000" y="6162775"/>
            <a:ext cx="145424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+mn-lt"/>
              </a:rPr>
              <a:t>Smarter City    Better Life</a:t>
            </a:r>
          </a:p>
        </p:txBody>
      </p:sp>
      <p:pic>
        <p:nvPicPr>
          <p:cNvPr id="3" name="图片 2" descr="C:\Users\86230\Desktop\LOGOPNG\LOGOPNG\logo.png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0045700" y="6009005"/>
            <a:ext cx="1905000" cy="4718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81794" y="3716929"/>
            <a:ext cx="3504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智能体课题汇报</a:t>
            </a:r>
          </a:p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2026-01-01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文本框 4"/>
          <p:cNvSpPr txBox="1">
            <a:spLocks noChangeArrowheads="1"/>
          </p:cNvSpPr>
          <p:nvPr/>
        </p:nvSpPr>
        <p:spPr bwMode="auto">
          <a:xfrm>
            <a:off x="696000" y="505575"/>
            <a:ext cx="24176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en-US" altLang="zh-CN" sz="2000" b="1" dirty="0">
                <a:solidFill>
                  <a:srgbClr val="595959"/>
                </a:solidFill>
                <a:sym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595959"/>
                </a:solidFill>
                <a:sym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595959"/>
                </a:solidFill>
                <a:sym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595959"/>
                </a:solidFill>
                <a:sym typeface="微软雅黑" panose="020B0503020204020204" pitchFamily="34" charset="-122"/>
              </a:rPr>
              <a:t>智能体是什么</a:t>
            </a:r>
            <a:endParaRPr lang="zh-CN" sz="2000" b="1" dirty="0">
              <a:solidFill>
                <a:srgbClr val="595959"/>
              </a:solidFill>
              <a:sym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A1874E-B876-B257-747C-9900D119D996}"/>
              </a:ext>
            </a:extLst>
          </p:cNvPr>
          <p:cNvSpPr txBox="1"/>
          <p:nvPr/>
        </p:nvSpPr>
        <p:spPr>
          <a:xfrm>
            <a:off x="1488000" y="1557000"/>
            <a:ext cx="724429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4800" dirty="0"/>
              <a:t>大脑：模型基座</a:t>
            </a:r>
            <a:endParaRPr kumimoji="1" lang="en-US" altLang="zh-CN" sz="4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4800" dirty="0"/>
              <a:t>记忆：数据来源</a:t>
            </a:r>
            <a:endParaRPr kumimoji="1" lang="en-US" altLang="zh-CN" sz="4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4800" dirty="0"/>
              <a:t>工具：手和脚，执行任务</a:t>
            </a:r>
            <a:endParaRPr kumimoji="1" lang="en-US" altLang="zh-CN" sz="4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4800" dirty="0"/>
              <a:t>计划：拆解任务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58B05-E1A3-C56C-6B07-A6092E9C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文本框 4">
            <a:extLst>
              <a:ext uri="{FF2B5EF4-FFF2-40B4-BE49-F238E27FC236}">
                <a16:creationId xmlns:a16="http://schemas.microsoft.com/office/drawing/2014/main" id="{AD2A7B1C-17E6-8BD7-C77E-A53E9F640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000" y="505575"/>
            <a:ext cx="23952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en-US" altLang="zh-CN" sz="2000" b="1" dirty="0">
                <a:solidFill>
                  <a:srgbClr val="595959"/>
                </a:solidFill>
                <a:sym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595959"/>
                </a:solidFill>
                <a:sym typeface="微软雅黑" panose="020B0503020204020204" pitchFamily="34" charset="-122"/>
              </a:rPr>
              <a:t>、智能体怎么开发</a:t>
            </a:r>
            <a:endParaRPr lang="zh-CN" sz="2000" b="1" dirty="0">
              <a:solidFill>
                <a:srgbClr val="595959"/>
              </a:solidFill>
              <a:sym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DF92EF-5E95-E65A-D54D-D3910E5868C2}"/>
              </a:ext>
            </a:extLst>
          </p:cNvPr>
          <p:cNvSpPr txBox="1"/>
          <p:nvPr/>
        </p:nvSpPr>
        <p:spPr>
          <a:xfrm>
            <a:off x="1488000" y="1557000"/>
            <a:ext cx="4038285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4800" dirty="0"/>
              <a:t>使用脚手架</a:t>
            </a:r>
            <a:endParaRPr kumimoji="1" lang="en-US" altLang="zh-CN" sz="4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4800" dirty="0" err="1"/>
              <a:t>LangChain</a:t>
            </a:r>
            <a:endParaRPr kumimoji="1" lang="en-US" altLang="zh-CN" sz="4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4800" dirty="0"/>
              <a:t>自己搭</a:t>
            </a:r>
            <a:endParaRPr kumimoji="1" lang="en-US" altLang="zh-CN" sz="4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4800" dirty="0"/>
              <a:t>底座</a:t>
            </a:r>
            <a:endParaRPr kumimoji="1" lang="en-US" altLang="zh-CN" sz="4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4800" dirty="0"/>
              <a:t>工具</a:t>
            </a:r>
            <a:endParaRPr kumimoji="1" lang="en-US" altLang="zh-CN" sz="4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4800" dirty="0"/>
              <a:t>记忆</a:t>
            </a:r>
            <a:endParaRPr kumimoji="1" lang="en-US" altLang="zh-CN" sz="4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4800" dirty="0"/>
              <a:t>计划</a:t>
            </a:r>
            <a:endParaRPr kumimoji="1" lang="en-US" altLang="zh-CN" sz="4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sz="4800" dirty="0"/>
          </a:p>
        </p:txBody>
      </p:sp>
    </p:spTree>
    <p:extLst>
      <p:ext uri="{BB962C8B-B14F-4D97-AF65-F5344CB8AC3E}">
        <p14:creationId xmlns:p14="http://schemas.microsoft.com/office/powerpoint/2010/main" val="10272247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hmODgyYjBjMDBhMzEyNGI3NTRlN2I5YjFhNGZkO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1s2cmee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005BAB"/>
          </a:solidFill>
        </a:ln>
      </a:spPr>
      <a:bodyPr rtlCol="0" anchor="ctr"/>
      <a:lstStyle>
        <a:defPPr algn="ctr">
          <a:defRPr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</Words>
  <Application>Microsoft Macintosh PowerPoint</Application>
  <PresentationFormat>宽屏</PresentationFormat>
  <Paragraphs>21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思源黑体 CN Bold</vt:lpstr>
      <vt:lpstr>微软雅黑</vt:lpstr>
      <vt:lpstr>Arial</vt:lpstr>
      <vt:lpstr>1_Office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deck-ir</dc:creator>
  <cp:lastModifiedBy>deck-ir</cp:lastModifiedBy>
  <cp:revision>1940</cp:revision>
  <cp:lastPrinted>2026-06-04T09:20:49Z</cp:lastPrinted>
  <dcterms:created xsi:type="dcterms:W3CDTF">2026-06-04T09:20:49Z</dcterms:created>
  <dcterms:modified xsi:type="dcterms:W3CDTF">2026-06-09T03:52:22Z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56B09C42F14644BBB14459749C8E4630</vt:lpwstr>
  </property>
  <property fmtid="{D5CDD505-2E9C-101B-9397-08002B2CF9AE}" pid="3" name="KSOProductBuildVer">
    <vt:lpwstr>2052-12.1.25895.25895</vt:lpwstr>
  </property>
</Properties>
</file>